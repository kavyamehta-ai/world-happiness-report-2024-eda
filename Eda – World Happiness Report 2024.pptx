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7" r:id="rId2"/>
    <p:sldId id="258" r:id="rId3"/>
    <p:sldId id="259" r:id="rId4"/>
    <p:sldId id="260" r:id="rId5"/>
    <p:sldId id="262" r:id="rId6"/>
    <p:sldId id="264" r:id="rId7"/>
    <p:sldId id="265" r:id="rId8"/>
    <p:sldId id="266" r:id="rId9"/>
    <p:sldId id="267" r:id="rId10"/>
    <p:sldId id="268" r:id="rId11"/>
    <p:sldId id="271" r:id="rId12"/>
    <p:sldId id="269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27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53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2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20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60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25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22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185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89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784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9971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563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701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788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757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8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F72CB-66A8-4B2C-AD1A-66D017430D56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7F160-107C-4AEF-83A6-7443359DD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288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C2A58-31AC-C747-414D-4791DBF04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429000"/>
            <a:ext cx="10820400" cy="2789685"/>
          </a:xfrm>
        </p:spPr>
        <p:txBody>
          <a:bodyPr/>
          <a:lstStyle/>
          <a:p>
            <a:pPr>
              <a:defRPr sz="1800"/>
            </a:pPr>
            <a:r>
              <a:rPr lang="en-US" dirty="0"/>
              <a:t>Submitted by: Kavya Mehta  </a:t>
            </a:r>
          </a:p>
          <a:p>
            <a:pPr>
              <a:defRPr sz="1800"/>
            </a:pPr>
            <a:r>
              <a:rPr lang="en-US" dirty="0"/>
              <a:t>GIRD No: 11717 </a:t>
            </a:r>
          </a:p>
          <a:p>
            <a:pPr>
              <a:defRPr sz="1800"/>
            </a:pPr>
            <a:r>
              <a:rPr lang="en-US" dirty="0"/>
              <a:t>Course: Data Analytics Final Project</a:t>
            </a:r>
          </a:p>
          <a:p>
            <a:pPr>
              <a:defRPr sz="1800"/>
            </a:pPr>
            <a:r>
              <a:rPr lang="en-US" dirty="0"/>
              <a:t>Date: 06/10/25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277A7C-3994-2B40-7E8A-13AEEFCD9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228599" y="720384"/>
            <a:ext cx="11576956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/>
              <a:t>Eda – World Happiness Report 2024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EC6A6-6660-E5B0-EA63-6F70B28984AE}"/>
              </a:ext>
            </a:extLst>
          </p:cNvPr>
          <p:cNvSpPr txBox="1"/>
          <p:nvPr/>
        </p:nvSpPr>
        <p:spPr>
          <a:xfrm>
            <a:off x="685800" y="2259107"/>
            <a:ext cx="8461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data-driven look at how India compares globally and regionally on happiness metrics.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17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6132-7CE8-1318-C6AF-0905300F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962" y="201952"/>
            <a:ext cx="6696635" cy="1721225"/>
          </a:xfrm>
        </p:spPr>
        <p:txBody>
          <a:bodyPr>
            <a:normAutofit/>
          </a:bodyPr>
          <a:lstStyle/>
          <a:p>
            <a:r>
              <a:rPr lang="en-IN" sz="4400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F1536B-9E16-32A6-C2AD-6E14C421E9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1670" y="2328588"/>
            <a:ext cx="10714469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dirty="0"/>
              <a:t>What is EDA and Why It Matters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F2609-721C-3790-07D4-8DCA51ABFA0D}"/>
              </a:ext>
            </a:extLst>
          </p:cNvPr>
          <p:cNvSpPr txBox="1"/>
          <p:nvPr/>
        </p:nvSpPr>
        <p:spPr>
          <a:xfrm>
            <a:off x="444617" y="2647793"/>
            <a:ext cx="87392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EDA (Exploratory Data Analysis) helps us understand data before modeling.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reveals patterns, outliers, missing values, and relationships.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 this project, EDA helps uncover insights about global happiness.</a:t>
            </a:r>
          </a:p>
        </p:txBody>
      </p:sp>
    </p:spTree>
    <p:extLst>
      <p:ext uri="{BB962C8B-B14F-4D97-AF65-F5344CB8AC3E}">
        <p14:creationId xmlns:p14="http://schemas.microsoft.com/office/powerpoint/2010/main" val="164788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879088-2E21-EA49-E050-1881DB34CF13}"/>
              </a:ext>
            </a:extLst>
          </p:cNvPr>
          <p:cNvSpPr txBox="1"/>
          <p:nvPr/>
        </p:nvSpPr>
        <p:spPr>
          <a:xfrm>
            <a:off x="3048699" y="561954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Objectives of EDA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FC001-1362-3903-6447-1A856F4CDD66}"/>
              </a:ext>
            </a:extLst>
          </p:cNvPr>
          <p:cNvSpPr txBox="1"/>
          <p:nvPr/>
        </p:nvSpPr>
        <p:spPr>
          <a:xfrm>
            <a:off x="488659" y="1928874"/>
            <a:ext cx="6094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Project Goals</a:t>
            </a:r>
            <a:endParaRPr lang="en-US" b="1" dirty="0"/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Explore global happiness distribution.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Identify key factors influencing happiness.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Compare India’s performance globally and regionally.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Highlight areas for social and policy improvement.</a:t>
            </a:r>
          </a:p>
        </p:txBody>
      </p:sp>
    </p:spTree>
    <p:extLst>
      <p:ext uri="{BB962C8B-B14F-4D97-AF65-F5344CB8AC3E}">
        <p14:creationId xmlns:p14="http://schemas.microsoft.com/office/powerpoint/2010/main" val="82883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954A-34A0-81F8-06C3-373DD6D9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4982"/>
            <a:ext cx="8610600" cy="1293028"/>
          </a:xfrm>
        </p:spPr>
        <p:txBody>
          <a:bodyPr/>
          <a:lstStyle/>
          <a:p>
            <a:r>
              <a:rPr lang="en-IN"/>
              <a:t>Dataset Overview</a:t>
            </a:r>
            <a:br>
              <a:rPr lang="en-IN"/>
            </a:br>
            <a:endParaRPr lang="en-IN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67C2D86-3CC5-9317-1839-33C123CA7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160" y="2376855"/>
            <a:ext cx="39260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Covers 143 countries.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factors: GDP, social support, health, freedom, generosity, corruption perception.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India’s entry is highlighted for reference. 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C440CC3F-CCAF-F704-09C2-910FB2483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011" y="2385247"/>
            <a:ext cx="6041870" cy="34582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921C46-1217-34F0-F000-C0C1DA4C1FEE}"/>
              </a:ext>
            </a:extLst>
          </p:cNvPr>
          <p:cNvSpPr txBox="1"/>
          <p:nvPr/>
        </p:nvSpPr>
        <p:spPr>
          <a:xfrm>
            <a:off x="695279" y="1898010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/>
              <a:t>Dataset Snapshot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83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C589-143F-828C-94DF-FC96F6F5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105" y="445591"/>
            <a:ext cx="9685789" cy="1293028"/>
          </a:xfrm>
        </p:spPr>
        <p:txBody>
          <a:bodyPr/>
          <a:lstStyle/>
          <a:p>
            <a:r>
              <a:rPr lang="en-US" dirty="0"/>
              <a:t>India vs Top 10 Happiest Countries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493E5-5833-F152-C99A-1F4CA8D4234B}"/>
              </a:ext>
            </a:extLst>
          </p:cNvPr>
          <p:cNvSpPr txBox="1"/>
          <p:nvPr/>
        </p:nvSpPr>
        <p:spPr>
          <a:xfrm>
            <a:off x="7532964" y="1511439"/>
            <a:ext cx="35317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India’s happiness score compared with top 10 happiest nations.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Shows gap between India and global leaders.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367E0-68E0-BF47-168D-A29145DC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52" y="1860539"/>
            <a:ext cx="6659831" cy="380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1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BDB2-F78A-2BE6-2E39-8660626E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8282"/>
            <a:ext cx="11956869" cy="1293028"/>
          </a:xfrm>
        </p:spPr>
        <p:txBody>
          <a:bodyPr/>
          <a:lstStyle/>
          <a:p>
            <a:r>
              <a:rPr lang="en-US" dirty="0"/>
              <a:t>India vs Bottom 10 Least Happy Countries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4C1EFB5-807D-B4FC-BBB0-E0ADA0ED4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313" y="2038308"/>
            <a:ext cx="400154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India scores well above the bottom 10 countries in the World Happiness Report.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nations often face issues like conflict, poor governance, and limited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India isn’t among the least happy, it still trails behind global leaders.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There’s room to improve in areas like trust and social support.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5CB555-C992-F41E-29CC-A92F48B1F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45" y="2249164"/>
            <a:ext cx="6141576" cy="354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1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DCD2-8C09-1B76-8039-F6A5D184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6" y="311368"/>
            <a:ext cx="10289796" cy="1293028"/>
          </a:xfrm>
        </p:spPr>
        <p:txBody>
          <a:bodyPr/>
          <a:lstStyle/>
          <a:p>
            <a:r>
              <a:rPr lang="en-IN" dirty="0"/>
              <a:t>India’s Happiness Factor Scores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4851A-0F51-6554-B3A4-4EC242EADB9C}"/>
              </a:ext>
            </a:extLst>
          </p:cNvPr>
          <p:cNvSpPr txBox="1"/>
          <p:nvPr/>
        </p:nvSpPr>
        <p:spPr>
          <a:xfrm>
            <a:off x="7132739" y="1918062"/>
            <a:ext cx="37393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India’s scores across key happiness factors are mixed.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Strong areas: Freedom and generosity.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Weak areas: Social support and corruption perception.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Highlights where India leads and where it needs improvement.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CFD598-0F83-DD57-AC60-47B8BA6D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4" y="1997838"/>
            <a:ext cx="5865647" cy="369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2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5582-748F-753C-65C8-EEFA33C1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69423"/>
            <a:ext cx="9643844" cy="1293028"/>
          </a:xfrm>
        </p:spPr>
        <p:txBody>
          <a:bodyPr/>
          <a:lstStyle/>
          <a:p>
            <a:r>
              <a:rPr lang="en-US" dirty="0"/>
              <a:t>India vs South Asian Neighbors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98E43-1857-6A6E-36D6-C5C686239ACC}"/>
              </a:ext>
            </a:extLst>
          </p:cNvPr>
          <p:cNvSpPr txBox="1"/>
          <p:nvPr/>
        </p:nvSpPr>
        <p:spPr>
          <a:xfrm>
            <a:off x="7264867" y="1562451"/>
            <a:ext cx="34122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India’s happiness score compared with nearby countries like Nepal, Bhutan, Bangladesh, Sri Lanka, and Pakistan.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Shows India’s relative position in South Asia.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India ranks ahead of some neighbors, but behind others  highlighting mixed regional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72325-0693-86EB-D23F-C9BE5B1A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15" y="1872037"/>
            <a:ext cx="6452994" cy="377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5323-0DD2-54F1-B9E5-DFF2499F3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58" y="495925"/>
            <a:ext cx="11900483" cy="1293028"/>
          </a:xfrm>
        </p:spPr>
        <p:txBody>
          <a:bodyPr/>
          <a:lstStyle/>
          <a:p>
            <a:r>
              <a:rPr lang="en-US" dirty="0"/>
              <a:t>Global Correlation of Happiness Factors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ECE456-BAB7-46D7-E471-F370C0683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196" y="1703901"/>
            <a:ext cx="39008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Shows how strongly each factor is linked to happiness across all countries.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correlations: GDP, health, and social support.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Weak or negative: Generosity and corruption perception.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Helps identify which areas matter most for improving happiness worldwide.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E56C5-8E95-EA73-A1AB-4C4EC7E2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74" y="1788953"/>
            <a:ext cx="5175825" cy="400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88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6013-758E-B342-6FAD-98C7ED19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39" y="378480"/>
            <a:ext cx="11187418" cy="1293028"/>
          </a:xfrm>
        </p:spPr>
        <p:txBody>
          <a:bodyPr/>
          <a:lstStyle/>
          <a:p>
            <a:r>
              <a:rPr lang="en-IN" dirty="0"/>
              <a:t>India vs Global Average (Radar Chart)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1AF19A-620F-571D-9895-D727DF112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029" y="1720840"/>
            <a:ext cx="36240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Compares India’s scores with global averages across key happiness factors.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India performs well in freedom and generosity.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Lags behind in social support and corruption perception.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Highlights areas of strength and improvement.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99397-4F70-FA52-D474-43586B7B8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00" y="1671508"/>
            <a:ext cx="5701148" cy="42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60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ACC1-F754-07FF-3FF2-710C7F08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78480"/>
            <a:ext cx="9971015" cy="1293028"/>
          </a:xfrm>
        </p:spPr>
        <p:txBody>
          <a:bodyPr/>
          <a:lstStyle/>
          <a:p>
            <a:r>
              <a:rPr lang="en-IN" dirty="0"/>
              <a:t>Distribution of Happiness Scores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F8FD4D-EB26-4E78-22AB-56ECF975F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584" y="1903371"/>
            <a:ext cx="408543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Shows how happiness scores are spread across all countries.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India is marked in red to show its relative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India falls near the global average not among the happiest, but not the least happy either.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D543AD-5019-FD48-0656-52155709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54" y="1903371"/>
            <a:ext cx="6193159" cy="357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5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0772-3B82-1255-2986-B785AACD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749" y="336535"/>
            <a:ext cx="8610600" cy="1293028"/>
          </a:xfrm>
        </p:spPr>
        <p:txBody>
          <a:bodyPr/>
          <a:lstStyle/>
          <a:p>
            <a:r>
              <a:rPr lang="en-IN" dirty="0"/>
              <a:t>Key Insights &amp;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8951B-9091-9CA4-1896-622F87008FB6}"/>
              </a:ext>
            </a:extLst>
          </p:cNvPr>
          <p:cNvSpPr txBox="1"/>
          <p:nvPr/>
        </p:nvSpPr>
        <p:spPr>
          <a:xfrm>
            <a:off x="799050" y="1720840"/>
            <a:ext cx="91419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India ranks mid-tier in global happiness.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areas: Freedom, generosity.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Weak areas: Social support, corruption perception.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Happiness is shaped by multiple factors — not just GDP.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Regional comparison shows India ahead of some neighbors, behind others.</a:t>
            </a:r>
          </a:p>
        </p:txBody>
      </p:sp>
    </p:spTree>
    <p:extLst>
      <p:ext uri="{BB962C8B-B14F-4D97-AF65-F5344CB8AC3E}">
        <p14:creationId xmlns:p14="http://schemas.microsoft.com/office/powerpoint/2010/main" val="3103983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7FDEC-9B9A-F8F8-A2D7-FB0DAF46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60" y="537870"/>
            <a:ext cx="4787178" cy="1293028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8C821-ABE7-0FEE-8467-94798400B2D5}"/>
              </a:ext>
            </a:extLst>
          </p:cNvPr>
          <p:cNvSpPr txBox="1"/>
          <p:nvPr/>
        </p:nvSpPr>
        <p:spPr>
          <a:xfrm>
            <a:off x="756947" y="1892920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Sources &amp; Tools:-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Data Source: World Happiness Report 2024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 Used: Python (Pandas, Matplotlib, Seaborn)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Visuals created using 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388799602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251</TotalTime>
  <Words>563</Words>
  <Application>Microsoft Office PowerPoint</Application>
  <PresentationFormat>Widescreen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Eda – World Happiness Report 2024 </vt:lpstr>
      <vt:lpstr>Introduction</vt:lpstr>
      <vt:lpstr>PowerPoint Presentation</vt:lpstr>
      <vt:lpstr>Dataset Overview </vt:lpstr>
      <vt:lpstr>India vs Top 10 Happiest Countries</vt:lpstr>
      <vt:lpstr>India vs Bottom 10 Least Happy Countries</vt:lpstr>
      <vt:lpstr>India’s Happiness Factor Scores</vt:lpstr>
      <vt:lpstr>India vs South Asian Neighbors</vt:lpstr>
      <vt:lpstr>Global Correlation of Happiness Factors</vt:lpstr>
      <vt:lpstr>India vs Global Average (Radar Chart)</vt:lpstr>
      <vt:lpstr>Distribution of Happiness Scores</vt:lpstr>
      <vt:lpstr>Key Insights &amp; Conclusion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mehta</dc:creator>
  <cp:lastModifiedBy>kavya mehta</cp:lastModifiedBy>
  <cp:revision>2</cp:revision>
  <dcterms:created xsi:type="dcterms:W3CDTF">2025-10-06T09:05:49Z</dcterms:created>
  <dcterms:modified xsi:type="dcterms:W3CDTF">2025-10-06T13:17:34Z</dcterms:modified>
</cp:coreProperties>
</file>